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itter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Nirmala Text" panose="020B0502040204020203" pitchFamily="34" charset="0"/>
      <p:regular r:id="rId18"/>
      <p:bold r:id="rId19"/>
    </p:embeddedFont>
    <p:embeddedFont>
      <p:font typeface="Nirmala Text Semilight" panose="020B0402040204020203" pitchFamily="34" charset="0"/>
      <p:regular r:id="rId20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D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22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9452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3B3C3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0811" y="1294567"/>
            <a:ext cx="4230291" cy="56404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003822"/>
            <a:ext cx="7556421" cy="99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Proyecto Intermodular: Desarrollo de Aplicaciones Multiplataforma </a:t>
            </a:r>
            <a:endParaRPr lang="en-US" sz="310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3908941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1E5CD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SHOE TEC</a:t>
            </a:r>
            <a:endParaRPr lang="en-US" sz="3900" dirty="0"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93790" y="5367457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Francisco Javier Cueto Burgos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93790" y="5908238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18 mayo 2026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8229600"/>
          </a:xfrm>
          <a:prstGeom prst="rect">
            <a:avLst/>
          </a:prstGeom>
          <a:solidFill>
            <a:srgbClr val="3B3C3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8" y="1294567"/>
            <a:ext cx="4230291" cy="56404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1942981"/>
            <a:ext cx="653069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1. Introducción y justificación</a:t>
            </a:r>
            <a:endParaRPr lang="en-US" sz="390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137315" y="2898687"/>
            <a:ext cx="3821906" cy="2222778"/>
          </a:xfrm>
          <a:prstGeom prst="roundRect">
            <a:avLst>
              <a:gd name="adj" fmla="val 869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6" name="Text 3"/>
          <p:cNvSpPr/>
          <p:nvPr/>
        </p:nvSpPr>
        <p:spPr>
          <a:xfrm>
            <a:off x="6335673" y="305907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El Problema</a:t>
            </a:r>
            <a:endParaRPr lang="en-US" sz="19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308074" y="305907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La Solución</a:t>
            </a:r>
            <a:endParaRPr lang="en-US" sz="19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7E7BB80-4091-4EE2-9E62-286509C00D76}"/>
              </a:ext>
            </a:extLst>
          </p:cNvPr>
          <p:cNvSpPr/>
          <p:nvPr/>
        </p:nvSpPr>
        <p:spPr>
          <a:xfrm>
            <a:off x="5896303" y="7790121"/>
            <a:ext cx="8727008" cy="439479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807847B2-E917-4F04-9F70-B7256048AB27}"/>
              </a:ext>
            </a:extLst>
          </p:cNvPr>
          <p:cNvSpPr/>
          <p:nvPr/>
        </p:nvSpPr>
        <p:spPr>
          <a:xfrm>
            <a:off x="6280190" y="3337172"/>
            <a:ext cx="3425190" cy="367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Tx/>
              <a:buChar char="-"/>
            </a:pP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Compra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masiva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 de </a:t>
            </a:r>
            <a:r>
              <a:rPr lang="en-US" sz="1550" i="1" dirty="0" err="1">
                <a:solidFill>
                  <a:srgbClr val="000000"/>
                </a:solidFill>
                <a:latin typeface="Bitter" pitchFamily="34" charset="0"/>
              </a:rPr>
              <a:t>calzado</a:t>
            </a:r>
            <a:r>
              <a:rPr lang="en-US" sz="1550" i="1" dirty="0">
                <a:solidFill>
                  <a:srgbClr val="000000"/>
                </a:solidFill>
                <a:latin typeface="Bitter" pitchFamily="34" charset="0"/>
              </a:rPr>
              <a:t> </a:t>
            </a:r>
            <a:r>
              <a:rPr lang="en-US" sz="1550" i="1" dirty="0" err="1">
                <a:solidFill>
                  <a:srgbClr val="000000"/>
                </a:solidFill>
                <a:latin typeface="Bitter" pitchFamily="34" charset="0"/>
              </a:rPr>
              <a:t>barato</a:t>
            </a:r>
            <a:r>
              <a:rPr lang="en-US" sz="1550" i="1" dirty="0">
                <a:solidFill>
                  <a:srgbClr val="000000"/>
                </a:solidFill>
                <a:latin typeface="Bitter" pitchFamily="34" charset="0"/>
              </a:rPr>
              <a:t>.</a:t>
            </a: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241C9D5D-E7F9-4491-AB19-CDD5F7741747}"/>
              </a:ext>
            </a:extLst>
          </p:cNvPr>
          <p:cNvSpPr/>
          <p:nvPr/>
        </p:nvSpPr>
        <p:spPr>
          <a:xfrm>
            <a:off x="10308074" y="3369231"/>
            <a:ext cx="3536156" cy="745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Tx/>
              <a:buChar char="-"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Shoe Tec, una Plataforma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móvil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con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recogida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y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entrega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a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domicilio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.</a:t>
            </a: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5B60F8EF-2CB9-4330-B793-3FC5F7BF4774}"/>
              </a:ext>
            </a:extLst>
          </p:cNvPr>
          <p:cNvSpPr/>
          <p:nvPr/>
        </p:nvSpPr>
        <p:spPr>
          <a:xfrm>
            <a:off x="6280190" y="3674546"/>
            <a:ext cx="3425190" cy="365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Tx/>
              <a:buChar char="-"/>
            </a:pP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Se </a:t>
            </a: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desecha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en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lugar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 de </a:t>
            </a: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reparar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.</a:t>
            </a: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B5E14366-4E7A-485A-89C8-49B265811F30}"/>
              </a:ext>
            </a:extLst>
          </p:cNvPr>
          <p:cNvSpPr/>
          <p:nvPr/>
        </p:nvSpPr>
        <p:spPr>
          <a:xfrm>
            <a:off x="6280190" y="3970953"/>
            <a:ext cx="3425190" cy="365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Tx/>
              <a:buChar char="-"/>
            </a:pP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Incremento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 de </a:t>
            </a: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basura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.</a:t>
            </a: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3FAF155A-45A9-498B-A840-19C61B70B127}"/>
              </a:ext>
            </a:extLst>
          </p:cNvPr>
          <p:cNvSpPr/>
          <p:nvPr/>
        </p:nvSpPr>
        <p:spPr>
          <a:xfrm>
            <a:off x="6280190" y="4297770"/>
            <a:ext cx="3425190" cy="632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Tx/>
              <a:buChar char="-"/>
            </a:pP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Falta de </a:t>
            </a: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profesionales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 por la </a:t>
            </a: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escasez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 de </a:t>
            </a: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relevo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generacional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.</a:t>
            </a:r>
            <a:endParaRPr lang="en-US" sz="155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DB089446-F08A-4C01-9931-0AF085DEC8FA}"/>
              </a:ext>
            </a:extLst>
          </p:cNvPr>
          <p:cNvSpPr/>
          <p:nvPr/>
        </p:nvSpPr>
        <p:spPr>
          <a:xfrm>
            <a:off x="10308074" y="4040798"/>
            <a:ext cx="3536156" cy="38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Tx/>
              <a:buChar char="-"/>
            </a:pP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Transporte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incluido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en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el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precio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.</a:t>
            </a:r>
            <a:endParaRPr lang="en-US" sz="155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007495D6-BACF-49DA-9652-FC4897F0D18B}"/>
              </a:ext>
            </a:extLst>
          </p:cNvPr>
          <p:cNvSpPr/>
          <p:nvPr/>
        </p:nvSpPr>
        <p:spPr>
          <a:xfrm>
            <a:off x="10308074" y="4424958"/>
            <a:ext cx="3536156" cy="670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Tx/>
              <a:buChar char="-"/>
            </a:pP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Reparación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cómoda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, accessible y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sostenible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.</a:t>
            </a:r>
            <a:endParaRPr lang="en-US" sz="15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84797"/>
            <a:ext cx="699004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2. Planteamiento del problema</a:t>
            </a:r>
            <a:endParaRPr lang="en-US" sz="390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201710"/>
            <a:ext cx="496133" cy="4961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7930" y="3201710"/>
            <a:ext cx="283428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Escasez de profesionales</a:t>
            </a:r>
            <a:endParaRPr lang="en-US" sz="19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537930" y="3630930"/>
            <a:ext cx="565320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39144" y="3201710"/>
            <a:ext cx="496133" cy="4961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83285" y="320171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Consumo desechable</a:t>
            </a:r>
            <a:endParaRPr lang="en-US" sz="19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8183285" y="3630930"/>
            <a:ext cx="565332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980384"/>
            <a:ext cx="496133" cy="4961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37930" y="498038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Falta de accesibilidad</a:t>
            </a:r>
            <a:endParaRPr lang="en-US" sz="19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537930" y="5409605"/>
            <a:ext cx="565320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39144" y="4980384"/>
            <a:ext cx="496133" cy="49613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83285" y="498038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Ausencia digital</a:t>
            </a:r>
            <a:endParaRPr lang="en-US" sz="19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8183285" y="5409605"/>
            <a:ext cx="565332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8686EDB-1426-49B6-B83D-2692254D99B2}"/>
              </a:ext>
            </a:extLst>
          </p:cNvPr>
          <p:cNvSpPr/>
          <p:nvPr/>
        </p:nvSpPr>
        <p:spPr>
          <a:xfrm>
            <a:off x="5896303" y="7790121"/>
            <a:ext cx="8727008" cy="439479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F9AE1343-A665-457F-A581-FD69C6C54DA6}"/>
              </a:ext>
            </a:extLst>
          </p:cNvPr>
          <p:cNvSpPr/>
          <p:nvPr/>
        </p:nvSpPr>
        <p:spPr>
          <a:xfrm>
            <a:off x="1537929" y="3519250"/>
            <a:ext cx="452818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Tx/>
              <a:buChar char="-"/>
            </a:pP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Dificultad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de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tener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talleres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de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reparación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cercanos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.</a:t>
            </a: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D9037B3D-F187-4C60-AD8E-2905421B8B5E}"/>
              </a:ext>
            </a:extLst>
          </p:cNvPr>
          <p:cNvSpPr/>
          <p:nvPr/>
        </p:nvSpPr>
        <p:spPr>
          <a:xfrm>
            <a:off x="1537929" y="5287447"/>
            <a:ext cx="4661178" cy="97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Tx/>
              <a:buChar char="-"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Personas con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movilidad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reducida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o que no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disponen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talleres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cercanos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,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ni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una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alternativa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cómoda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digital.</a:t>
            </a: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95076976-8FBA-45E2-A275-55946751714E}"/>
              </a:ext>
            </a:extLst>
          </p:cNvPr>
          <p:cNvSpPr/>
          <p:nvPr/>
        </p:nvSpPr>
        <p:spPr>
          <a:xfrm>
            <a:off x="8183284" y="3513845"/>
            <a:ext cx="3536156" cy="31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Tx/>
              <a:buChar char="-"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El bajo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precio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del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calzado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nuevo.</a:t>
            </a: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93BF9A7B-294C-4E1A-AC25-305D93B12F63}"/>
              </a:ext>
            </a:extLst>
          </p:cNvPr>
          <p:cNvSpPr/>
          <p:nvPr/>
        </p:nvSpPr>
        <p:spPr>
          <a:xfrm>
            <a:off x="8183285" y="5284353"/>
            <a:ext cx="4661178" cy="653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Tx/>
              <a:buChar char="-"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No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existen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plataformas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, que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gestionen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la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reparación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, de forma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cómoda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y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transparente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.</a:t>
            </a: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6C518AAD-4FF0-4C27-B151-47D8192190B6}"/>
              </a:ext>
            </a:extLst>
          </p:cNvPr>
          <p:cNvSpPr/>
          <p:nvPr/>
        </p:nvSpPr>
        <p:spPr>
          <a:xfrm>
            <a:off x="1537928" y="4184880"/>
            <a:ext cx="4528186" cy="700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Tx/>
              <a:buChar char="-"/>
            </a:pP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Obliga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al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cliente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a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desplazarce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o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renunciar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a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su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calzado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.</a:t>
            </a: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7D65F047-BDC6-498E-94EF-5373E491C429}"/>
              </a:ext>
            </a:extLst>
          </p:cNvPr>
          <p:cNvSpPr/>
          <p:nvPr/>
        </p:nvSpPr>
        <p:spPr>
          <a:xfrm>
            <a:off x="8183285" y="4252701"/>
            <a:ext cx="3536156" cy="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Tx/>
              <a:buChar char="-"/>
            </a:pP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Generan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residuos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innecesarios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.</a:t>
            </a:r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D43BD2F6-0F82-40EF-9B15-935ACF5EF233}"/>
              </a:ext>
            </a:extLst>
          </p:cNvPr>
          <p:cNvSpPr/>
          <p:nvPr/>
        </p:nvSpPr>
        <p:spPr>
          <a:xfrm>
            <a:off x="8183284" y="3859271"/>
            <a:ext cx="4528303" cy="333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Tx/>
              <a:buChar char="-"/>
            </a:pP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Fomenta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abandono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de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calzado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reparable..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2">
            <a:extLst>
              <a:ext uri="{FF2B5EF4-FFF2-40B4-BE49-F238E27FC236}">
                <a16:creationId xmlns:a16="http://schemas.microsoft.com/office/drawing/2014/main" id="{F5E2C1F4-D08D-4413-957E-AB8D5E23CE52}"/>
              </a:ext>
            </a:extLst>
          </p:cNvPr>
          <p:cNvSpPr/>
          <p:nvPr/>
        </p:nvSpPr>
        <p:spPr>
          <a:xfrm>
            <a:off x="786170" y="3885217"/>
            <a:ext cx="5756076" cy="2419359"/>
          </a:xfrm>
          <a:prstGeom prst="roundRect">
            <a:avLst>
              <a:gd name="adj" fmla="val 869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6EF1ABC7-7561-4610-A061-4354EF37DCBA}"/>
              </a:ext>
            </a:extLst>
          </p:cNvPr>
          <p:cNvSpPr/>
          <p:nvPr/>
        </p:nvSpPr>
        <p:spPr>
          <a:xfrm>
            <a:off x="786169" y="2004734"/>
            <a:ext cx="5756077" cy="1655126"/>
          </a:xfrm>
          <a:prstGeom prst="roundRect">
            <a:avLst>
              <a:gd name="adj" fmla="val 869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2" name="Text 0"/>
          <p:cNvSpPr/>
          <p:nvPr/>
        </p:nvSpPr>
        <p:spPr>
          <a:xfrm>
            <a:off x="793790" y="1114544"/>
            <a:ext cx="562082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3. Objetivos del proyecto</a:t>
            </a:r>
            <a:endParaRPr lang="en-US" sz="390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80421" y="2204655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Objetivo general</a:t>
            </a:r>
            <a:endParaRPr lang="en-US" sz="19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50915" y="2764722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15306" y="41678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Público objetivo</a:t>
            </a:r>
            <a:endParaRPr lang="en-US" sz="19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4760714"/>
            <a:ext cx="6279356" cy="1408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64874" y="223063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Objetivos específicos</a:t>
            </a:r>
            <a:endParaRPr lang="en-US" sz="19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862411" y="2764036"/>
            <a:ext cx="598181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862411" y="3795951"/>
            <a:ext cx="598181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862411" y="4827865"/>
            <a:ext cx="598181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862411" y="5542240"/>
            <a:ext cx="598181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862411" y="6256615"/>
            <a:ext cx="598181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481DD56-DA68-4FA1-8987-0677D90D9BE0}"/>
              </a:ext>
            </a:extLst>
          </p:cNvPr>
          <p:cNvSpPr/>
          <p:nvPr/>
        </p:nvSpPr>
        <p:spPr>
          <a:xfrm>
            <a:off x="5896303" y="7790121"/>
            <a:ext cx="8727008" cy="439479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FEC1F000-B09F-473D-ADAB-EAB36921D788}"/>
              </a:ext>
            </a:extLst>
          </p:cNvPr>
          <p:cNvSpPr/>
          <p:nvPr/>
        </p:nvSpPr>
        <p:spPr>
          <a:xfrm>
            <a:off x="920016" y="2494610"/>
            <a:ext cx="5622231" cy="668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Tx/>
              <a:buChar char="-"/>
            </a:pP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Desarrollar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 Plataforma digital (app </a:t>
            </a: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móvil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 y Sistema de gestion </a:t>
            </a: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interno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), </a:t>
            </a: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fomentando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 un </a:t>
            </a: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servicio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cómodo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, </a:t>
            </a: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moderno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 y </a:t>
            </a: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sostenible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.</a:t>
            </a:r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A0B7491E-D52D-4437-90AB-959D7881823A}"/>
              </a:ext>
            </a:extLst>
          </p:cNvPr>
          <p:cNvSpPr/>
          <p:nvPr/>
        </p:nvSpPr>
        <p:spPr>
          <a:xfrm>
            <a:off x="948688" y="4533529"/>
            <a:ext cx="5465923" cy="621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Tx/>
              <a:buChar char="-"/>
            </a:pP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Personas que </a:t>
            </a: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quieran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reparar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su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calzado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, por </a:t>
            </a: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economía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, </a:t>
            </a: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comodidad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 o valor sentimental.</a:t>
            </a:r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7438F9EE-858C-4EFD-92A9-786D18653D10}"/>
              </a:ext>
            </a:extLst>
          </p:cNvPr>
          <p:cNvSpPr/>
          <p:nvPr/>
        </p:nvSpPr>
        <p:spPr>
          <a:xfrm>
            <a:off x="7564874" y="2517482"/>
            <a:ext cx="6551176" cy="38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Tx/>
              <a:buChar char="-"/>
            </a:pP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Diseñar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BBDD Segura.</a:t>
            </a: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2CB871A0-5314-411E-A8B1-9460917DA649}"/>
              </a:ext>
            </a:extLst>
          </p:cNvPr>
          <p:cNvSpPr/>
          <p:nvPr/>
        </p:nvSpPr>
        <p:spPr>
          <a:xfrm>
            <a:off x="920016" y="5594570"/>
            <a:ext cx="5465923" cy="748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Tx/>
              <a:buChar char="-"/>
            </a:pP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Clientes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 sin </a:t>
            </a: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zapaterías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cercanas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 o con </a:t>
            </a: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movilidad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reducida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.</a:t>
            </a: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29C5EACB-1E97-4632-861A-6FFCF1128314}"/>
              </a:ext>
            </a:extLst>
          </p:cNvPr>
          <p:cNvSpPr/>
          <p:nvPr/>
        </p:nvSpPr>
        <p:spPr>
          <a:xfrm>
            <a:off x="946187" y="5197837"/>
            <a:ext cx="5465923" cy="330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Tx/>
              <a:buChar char="-"/>
            </a:pP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Usuarios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preocupados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 por </a:t>
            </a: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el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 medio </a:t>
            </a:r>
            <a:r>
              <a:rPr lang="en-US" sz="1550" dirty="0" err="1">
                <a:solidFill>
                  <a:srgbClr val="000000"/>
                </a:solidFill>
                <a:latin typeface="Bitter" pitchFamily="34" charset="0"/>
              </a:rPr>
              <a:t>ambiente</a:t>
            </a:r>
            <a:r>
              <a:rPr lang="en-US" sz="1550" dirty="0">
                <a:solidFill>
                  <a:srgbClr val="000000"/>
                </a:solidFill>
                <a:latin typeface="Bitter" pitchFamily="34" charset="0"/>
              </a:rPr>
              <a:t>.</a:t>
            </a:r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D5E99D27-94CD-4A38-8E8F-E813EAA5675C}"/>
              </a:ext>
            </a:extLst>
          </p:cNvPr>
          <p:cNvSpPr/>
          <p:nvPr/>
        </p:nvSpPr>
        <p:spPr>
          <a:xfrm>
            <a:off x="7564873" y="3796820"/>
            <a:ext cx="6551176" cy="352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Tx/>
              <a:buChar char="-"/>
            </a:pP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Economía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cicular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.</a:t>
            </a:r>
          </a:p>
          <a:p>
            <a:pPr marL="285750" indent="-285750" algn="l">
              <a:lnSpc>
                <a:spcPts val="2500"/>
              </a:lnSpc>
              <a:buFontTx/>
              <a:buChar char="-"/>
            </a:pPr>
            <a:endParaRPr lang="en-US" sz="1550" dirty="0">
              <a:solidFill>
                <a:srgbClr val="C2C4B5"/>
              </a:solidFill>
              <a:latin typeface="Bitter" pitchFamily="34" charset="0"/>
            </a:endParaRP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AF6B1CC9-0DF2-4446-B2A0-6561C38ADF2F}"/>
              </a:ext>
            </a:extLst>
          </p:cNvPr>
          <p:cNvSpPr/>
          <p:nvPr/>
        </p:nvSpPr>
        <p:spPr>
          <a:xfrm>
            <a:off x="7564873" y="3494517"/>
            <a:ext cx="6551176" cy="302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Tx/>
              <a:buChar char="-"/>
            </a:pP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Automatizar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recogidas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y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entregas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a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domicilio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.</a:t>
            </a:r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02D39A36-110D-482B-90DF-7E9BEB68E0ED}"/>
              </a:ext>
            </a:extLst>
          </p:cNvPr>
          <p:cNvSpPr/>
          <p:nvPr/>
        </p:nvSpPr>
        <p:spPr>
          <a:xfrm>
            <a:off x="7564873" y="3178247"/>
            <a:ext cx="6551176" cy="38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Tx/>
              <a:buChar char="-"/>
            </a:pP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Seguimiento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en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tiempo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real del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pedido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.</a:t>
            </a:r>
          </a:p>
          <a:p>
            <a:pPr marL="285750" indent="-285750" algn="l">
              <a:lnSpc>
                <a:spcPts val="2500"/>
              </a:lnSpc>
              <a:buFontTx/>
              <a:buChar char="-"/>
            </a:pPr>
            <a:endParaRPr lang="en-US" sz="1550" dirty="0">
              <a:solidFill>
                <a:srgbClr val="C2C4B5"/>
              </a:solidFill>
              <a:latin typeface="Bitter" pitchFamily="34" charset="0"/>
            </a:endParaRPr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51854F5C-6DAE-4DE4-8A75-ECA9663A2DB2}"/>
              </a:ext>
            </a:extLst>
          </p:cNvPr>
          <p:cNvSpPr/>
          <p:nvPr/>
        </p:nvSpPr>
        <p:spPr>
          <a:xfrm>
            <a:off x="7564873" y="2859922"/>
            <a:ext cx="6551176" cy="434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Tx/>
              <a:buChar char="-"/>
            </a:pP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Desarrollar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interfaz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 de </a:t>
            </a:r>
            <a:r>
              <a:rPr lang="en-US" sz="1550" dirty="0" err="1">
                <a:solidFill>
                  <a:srgbClr val="C2C4B5"/>
                </a:solidFill>
                <a:latin typeface="Bitter" pitchFamily="34" charset="0"/>
              </a:rPr>
              <a:t>administración</a:t>
            </a:r>
            <a:r>
              <a:rPr lang="en-US" sz="1550" dirty="0">
                <a:solidFill>
                  <a:srgbClr val="C2C4B5"/>
                </a:solidFill>
                <a:latin typeface="Bitter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9677" y="390287"/>
            <a:ext cx="5516880" cy="406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4. Análisis de viabilidad y tecnologías</a:t>
            </a:r>
            <a:endParaRPr lang="en-US" sz="25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179677" y="968097"/>
            <a:ext cx="5092779" cy="1092160"/>
          </a:xfrm>
          <a:prstGeom prst="roundRect">
            <a:avLst>
              <a:gd name="adj" fmla="val 1789"/>
            </a:avLst>
          </a:prstGeom>
          <a:solidFill>
            <a:srgbClr val="3B3C3E"/>
          </a:solidFill>
          <a:ln/>
        </p:spPr>
      </p:sp>
      <p:sp>
        <p:nvSpPr>
          <p:cNvPr id="4" name="Text 2"/>
          <p:cNvSpPr/>
          <p:nvPr/>
        </p:nvSpPr>
        <p:spPr>
          <a:xfrm>
            <a:off x="2309813" y="1098232"/>
            <a:ext cx="1628061" cy="20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Backend</a:t>
            </a:r>
            <a:endParaRPr lang="en-US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309813" y="1352788"/>
            <a:ext cx="4832509" cy="577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57824" y="968097"/>
            <a:ext cx="5092898" cy="1092160"/>
          </a:xfrm>
          <a:prstGeom prst="roundRect">
            <a:avLst>
              <a:gd name="adj" fmla="val 1789"/>
            </a:avLst>
          </a:prstGeom>
          <a:solidFill>
            <a:srgbClr val="3B3C3E"/>
          </a:solidFill>
          <a:ln/>
        </p:spPr>
      </p:sp>
      <p:sp>
        <p:nvSpPr>
          <p:cNvPr id="7" name="Text 5"/>
          <p:cNvSpPr/>
          <p:nvPr/>
        </p:nvSpPr>
        <p:spPr>
          <a:xfrm>
            <a:off x="7487960" y="1098232"/>
            <a:ext cx="1628061" cy="20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Base de datos</a:t>
            </a:r>
            <a:endParaRPr lang="en-US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87960" y="1352788"/>
            <a:ext cx="4832628" cy="577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79677" y="2145625"/>
            <a:ext cx="5092779" cy="1092160"/>
          </a:xfrm>
          <a:prstGeom prst="roundRect">
            <a:avLst>
              <a:gd name="adj" fmla="val 1789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10" name="Text 8"/>
          <p:cNvSpPr/>
          <p:nvPr/>
        </p:nvSpPr>
        <p:spPr>
          <a:xfrm>
            <a:off x="2309813" y="2275761"/>
            <a:ext cx="1628061" cy="20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Frontend</a:t>
            </a:r>
            <a:endParaRPr lang="en-US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309813" y="2530316"/>
            <a:ext cx="4832509" cy="577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50"/>
              </a:lnSpc>
              <a:buSzPct val="100000"/>
              <a:buChar char="•"/>
            </a:pPr>
            <a:endParaRPr lang="en-US" sz="1400" dirty="0">
              <a:solidFill>
                <a:srgbClr val="C2C4B5"/>
              </a:solidFill>
              <a:latin typeface="Bitter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57824" y="2145625"/>
            <a:ext cx="5092898" cy="1092160"/>
          </a:xfrm>
          <a:prstGeom prst="roundRect">
            <a:avLst>
              <a:gd name="adj" fmla="val 1789"/>
            </a:avLst>
          </a:prstGeom>
          <a:solidFill>
            <a:srgbClr val="3B3C3E"/>
          </a:solidFill>
          <a:ln/>
        </p:spPr>
      </p:sp>
      <p:sp>
        <p:nvSpPr>
          <p:cNvPr id="13" name="Text 11"/>
          <p:cNvSpPr/>
          <p:nvPr/>
        </p:nvSpPr>
        <p:spPr>
          <a:xfrm>
            <a:off x="7487960" y="2275761"/>
            <a:ext cx="1628061" cy="20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Móvil y seguridad</a:t>
            </a:r>
            <a:endParaRPr lang="en-US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487960" y="2530316"/>
            <a:ext cx="4832628" cy="577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endParaRPr lang="en-US" sz="10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677" y="3333869"/>
            <a:ext cx="10271046" cy="45054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292375" y="6431801"/>
            <a:ext cx="1552332" cy="555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Backend y BBDD</a:t>
            </a:r>
            <a:endParaRPr lang="en-US" sz="17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292375" y="7066755"/>
            <a:ext cx="1552332" cy="36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 </a:t>
            </a:r>
            <a:r>
              <a:rPr lang="en-US" sz="1400" dirty="0" err="1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semanas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223767" y="6709748"/>
            <a:ext cx="1552333" cy="277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Pruebas</a:t>
            </a:r>
            <a:endParaRPr lang="en-US" sz="17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0223767" y="7066755"/>
            <a:ext cx="1552333" cy="36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 semana de validación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881032" y="3738806"/>
            <a:ext cx="1552333" cy="277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Análisis</a:t>
            </a:r>
            <a:endParaRPr lang="en-US" sz="17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881032" y="4095813"/>
            <a:ext cx="1552333" cy="36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 semanas de viabilidad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792660" y="3738806"/>
            <a:ext cx="1552333" cy="277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Frontend</a:t>
            </a:r>
            <a:endParaRPr lang="en-US" sz="17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792660" y="4095813"/>
            <a:ext cx="1552333" cy="36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 </a:t>
            </a:r>
            <a:r>
              <a:rPr lang="en-US" sz="1400" dirty="0" err="1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semanas</a:t>
            </a:r>
            <a:endParaRPr lang="en-US" sz="140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EE94978-6475-4995-A208-879D1B477137}"/>
              </a:ext>
            </a:extLst>
          </p:cNvPr>
          <p:cNvSpPr/>
          <p:nvPr/>
        </p:nvSpPr>
        <p:spPr>
          <a:xfrm>
            <a:off x="5896303" y="7790121"/>
            <a:ext cx="8727008" cy="439479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65E9EF26-7276-4634-84A9-FDF46FDCB446}"/>
              </a:ext>
            </a:extLst>
          </p:cNvPr>
          <p:cNvSpPr/>
          <p:nvPr/>
        </p:nvSpPr>
        <p:spPr>
          <a:xfrm>
            <a:off x="2309811" y="1266407"/>
            <a:ext cx="5067301" cy="749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buFontTx/>
              <a:buChar char="-"/>
            </a:pP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Java + Sprint Boot.</a:t>
            </a:r>
          </a:p>
          <a:p>
            <a:pPr marL="285750" indent="-285750" algn="l">
              <a:buFontTx/>
              <a:buChar char="-"/>
            </a:pP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Java Persistence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Api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/ Hibernate</a:t>
            </a:r>
          </a:p>
          <a:p>
            <a:pPr marL="285750" indent="-285750" algn="l">
              <a:buFontTx/>
              <a:buChar char="-"/>
            </a:pP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Maven.</a:t>
            </a:r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560E7AB1-B2E7-4AA0-86CB-74F1A24E475C}"/>
              </a:ext>
            </a:extLst>
          </p:cNvPr>
          <p:cNvSpPr/>
          <p:nvPr/>
        </p:nvSpPr>
        <p:spPr>
          <a:xfrm>
            <a:off x="7513557" y="1302646"/>
            <a:ext cx="5067301" cy="749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buFontTx/>
              <a:buChar char="-"/>
            </a:pP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MySQL / Maria DB.</a:t>
            </a:r>
          </a:p>
          <a:p>
            <a:pPr marL="285750" indent="-285750" algn="l">
              <a:buFontTx/>
              <a:buChar char="-"/>
            </a:pP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Xampp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(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apache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).</a:t>
            </a:r>
          </a:p>
          <a:p>
            <a:pPr marL="285750" indent="-285750" algn="l">
              <a:buFontTx/>
              <a:buChar char="-"/>
            </a:pP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Escalable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y open source.</a:t>
            </a:r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F15FF38B-EC3C-4EC0-9F09-6E3CA0D5F402}"/>
              </a:ext>
            </a:extLst>
          </p:cNvPr>
          <p:cNvSpPr/>
          <p:nvPr/>
        </p:nvSpPr>
        <p:spPr>
          <a:xfrm>
            <a:off x="2309812" y="2473415"/>
            <a:ext cx="5067301" cy="749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buFontTx/>
              <a:buChar char="-"/>
            </a:pP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Html,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css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y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js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.</a:t>
            </a:r>
          </a:p>
          <a:p>
            <a:pPr marL="285750" indent="-285750" algn="l">
              <a:buFontTx/>
              <a:buChar char="-"/>
            </a:pP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Thymelead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.</a:t>
            </a:r>
          </a:p>
          <a:p>
            <a:pPr marL="285750" indent="-285750" algn="l">
              <a:buFontTx/>
              <a:buChar char="-"/>
            </a:pP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JavaFX.</a:t>
            </a:r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13BD2AD6-E809-4090-8B61-CC46681764A0}"/>
              </a:ext>
            </a:extLst>
          </p:cNvPr>
          <p:cNvSpPr/>
          <p:nvPr/>
        </p:nvSpPr>
        <p:spPr>
          <a:xfrm>
            <a:off x="7513556" y="2473415"/>
            <a:ext cx="5067301" cy="749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buFontTx/>
              <a:buChar char="-"/>
            </a:pP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Android Studio.</a:t>
            </a:r>
          </a:p>
          <a:p>
            <a:pPr marL="285750" indent="-285750" algn="l">
              <a:buFontTx/>
              <a:buChar char="-"/>
            </a:pP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Bcrypt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(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contraseñas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).</a:t>
            </a:r>
          </a:p>
          <a:p>
            <a:pPr marL="285750" indent="-285750" algn="l">
              <a:buFontTx/>
              <a:buChar char="-"/>
            </a:pP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Spring security.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07100"/>
            <a:ext cx="803898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5. Arquitectura y diseño del sistema</a:t>
            </a:r>
            <a:endParaRPr lang="en-US" sz="390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723192"/>
            <a:ext cx="348650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Arquitectura en 3 capas + </a:t>
            </a:r>
            <a:r>
              <a:rPr lang="en-US" sz="1950" b="1" dirty="0" err="1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Modelo</a:t>
            </a:r>
            <a:r>
              <a:rPr lang="en-US" sz="195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Vista </a:t>
            </a:r>
            <a:r>
              <a:rPr lang="en-US" sz="1950" b="1" dirty="0" err="1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Controlador</a:t>
            </a:r>
            <a:endParaRPr lang="en-US" sz="19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700689" y="2144554"/>
            <a:ext cx="279083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endParaRPr lang="en-US" sz="21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93790" y="2853333"/>
            <a:ext cx="4186118" cy="547211"/>
          </a:xfrm>
          <a:prstGeom prst="roundRect">
            <a:avLst>
              <a:gd name="adj" fmla="val 5441"/>
            </a:avLst>
          </a:prstGeom>
          <a:solidFill>
            <a:srgbClr val="3B3C3E"/>
          </a:solidFill>
          <a:ln/>
        </p:spPr>
      </p:sp>
      <p:sp>
        <p:nvSpPr>
          <p:cNvPr id="7" name="Text 5"/>
          <p:cNvSpPr/>
          <p:nvPr/>
        </p:nvSpPr>
        <p:spPr>
          <a:xfrm>
            <a:off x="2747248" y="2952512"/>
            <a:ext cx="279083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21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2</a:t>
            </a:r>
            <a:endParaRPr lang="en-US" sz="21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3790" y="3450074"/>
            <a:ext cx="6279356" cy="547211"/>
          </a:xfrm>
          <a:prstGeom prst="roundRect">
            <a:avLst>
              <a:gd name="adj" fmla="val 5441"/>
            </a:avLst>
          </a:prstGeom>
          <a:solidFill>
            <a:srgbClr val="3B3C3E"/>
          </a:solidFill>
          <a:ln/>
        </p:spPr>
      </p:sp>
      <p:sp>
        <p:nvSpPr>
          <p:cNvPr id="9" name="Text 7"/>
          <p:cNvSpPr/>
          <p:nvPr/>
        </p:nvSpPr>
        <p:spPr>
          <a:xfrm>
            <a:off x="3793927" y="3549253"/>
            <a:ext cx="279083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21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3</a:t>
            </a:r>
            <a:endParaRPr lang="en-US" sz="21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3790" y="4195643"/>
            <a:ext cx="396835" cy="396835"/>
          </a:xfrm>
          <a:prstGeom prst="roundRect">
            <a:avLst>
              <a:gd name="adj" fmla="val 7502"/>
            </a:avLst>
          </a:prstGeom>
          <a:solidFill>
            <a:srgbClr val="3B3C3E"/>
          </a:solidFill>
          <a:ln/>
        </p:spPr>
      </p:sp>
      <p:sp>
        <p:nvSpPr>
          <p:cNvPr id="11" name="Text 9"/>
          <p:cNvSpPr/>
          <p:nvPr/>
        </p:nvSpPr>
        <p:spPr>
          <a:xfrm>
            <a:off x="868144" y="4238982"/>
            <a:ext cx="248007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1</a:t>
            </a:r>
            <a:endParaRPr lang="en-US" sz="19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88983" y="423898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Capa de presentación</a:t>
            </a:r>
            <a:endParaRPr lang="en-US" sz="19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388983" y="4747498"/>
            <a:ext cx="568416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93790" y="5362694"/>
            <a:ext cx="396835" cy="396835"/>
          </a:xfrm>
          <a:prstGeom prst="roundRect">
            <a:avLst>
              <a:gd name="adj" fmla="val 7502"/>
            </a:avLst>
          </a:prstGeom>
          <a:solidFill>
            <a:srgbClr val="3B3C3E"/>
          </a:solidFill>
          <a:ln/>
        </p:spPr>
      </p:sp>
      <p:sp>
        <p:nvSpPr>
          <p:cNvPr id="15" name="Text 13"/>
          <p:cNvSpPr/>
          <p:nvPr/>
        </p:nvSpPr>
        <p:spPr>
          <a:xfrm>
            <a:off x="868144" y="5406033"/>
            <a:ext cx="248007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2</a:t>
            </a:r>
            <a:endParaRPr lang="en-US" sz="19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88983" y="540603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Lógica de negocio</a:t>
            </a:r>
            <a:endParaRPr lang="en-US" sz="19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88983" y="5914549"/>
            <a:ext cx="568416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93790" y="6529745"/>
            <a:ext cx="396835" cy="396835"/>
          </a:xfrm>
          <a:prstGeom prst="roundRect">
            <a:avLst>
              <a:gd name="adj" fmla="val 7502"/>
            </a:avLst>
          </a:prstGeom>
          <a:solidFill>
            <a:srgbClr val="3B3C3E"/>
          </a:solidFill>
          <a:ln/>
        </p:spPr>
      </p:sp>
      <p:sp>
        <p:nvSpPr>
          <p:cNvPr id="19" name="Text 17"/>
          <p:cNvSpPr/>
          <p:nvPr/>
        </p:nvSpPr>
        <p:spPr>
          <a:xfrm>
            <a:off x="868144" y="6573083"/>
            <a:ext cx="248007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3</a:t>
            </a:r>
            <a:endParaRPr lang="en-US" sz="19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88983" y="657308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Acceso a datos</a:t>
            </a:r>
            <a:endParaRPr lang="en-US" sz="19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564874" y="172319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Diagramas UML</a:t>
            </a:r>
            <a:endParaRPr lang="en-US" sz="19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564874" y="2231708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564874" y="3362920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564874" y="4494133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9D0F8E51-A2E0-4C8A-8BDA-6D3D9DDFA840}"/>
              </a:ext>
            </a:extLst>
          </p:cNvPr>
          <p:cNvSpPr/>
          <p:nvPr/>
        </p:nvSpPr>
        <p:spPr>
          <a:xfrm>
            <a:off x="5896303" y="7790121"/>
            <a:ext cx="8727008" cy="439479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5B1D3D04-0136-4714-971D-A3B0C8D87393}"/>
              </a:ext>
            </a:extLst>
          </p:cNvPr>
          <p:cNvSpPr/>
          <p:nvPr/>
        </p:nvSpPr>
        <p:spPr>
          <a:xfrm>
            <a:off x="786170" y="2256592"/>
            <a:ext cx="2093000" cy="547211"/>
          </a:xfrm>
          <a:prstGeom prst="roundRect">
            <a:avLst>
              <a:gd name="adj" fmla="val 5441"/>
            </a:avLst>
          </a:prstGeom>
          <a:solidFill>
            <a:srgbClr val="3B3C3E"/>
          </a:solidFill>
          <a:ln/>
        </p:spPr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2047B601-923F-498D-AF97-3428C28CF637}"/>
              </a:ext>
            </a:extLst>
          </p:cNvPr>
          <p:cNvSpPr/>
          <p:nvPr/>
        </p:nvSpPr>
        <p:spPr>
          <a:xfrm>
            <a:off x="1700689" y="2355771"/>
            <a:ext cx="279083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21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1</a:t>
            </a:r>
            <a:endParaRPr lang="en-US" sz="21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E0AC9C13-E961-44C1-9404-F29FC6C9412F}"/>
              </a:ext>
            </a:extLst>
          </p:cNvPr>
          <p:cNvSpPr/>
          <p:nvPr/>
        </p:nvSpPr>
        <p:spPr>
          <a:xfrm>
            <a:off x="1416257" y="4584035"/>
            <a:ext cx="5067301" cy="30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buFontTx/>
              <a:buChar char="-"/>
            </a:pP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JavaFX / App Android.</a:t>
            </a:r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3FFEB116-A399-4F17-969D-CC0251781DE2}"/>
              </a:ext>
            </a:extLst>
          </p:cNvPr>
          <p:cNvSpPr/>
          <p:nvPr/>
        </p:nvSpPr>
        <p:spPr>
          <a:xfrm>
            <a:off x="1416257" y="5761448"/>
            <a:ext cx="5067301" cy="295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buFontTx/>
              <a:buChar char="-"/>
            </a:pP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Controladores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,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servicios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y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validaciones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.</a:t>
            </a:r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126BC4CD-50DF-4B0F-8B24-CADBF597C94D}"/>
              </a:ext>
            </a:extLst>
          </p:cNvPr>
          <p:cNvSpPr/>
          <p:nvPr/>
        </p:nvSpPr>
        <p:spPr>
          <a:xfrm>
            <a:off x="1416257" y="6879434"/>
            <a:ext cx="5067301" cy="344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buFontTx/>
              <a:buChar char="-"/>
            </a:pP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Repositorios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Java Persistence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Api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/ MySQL.</a:t>
            </a:r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1757C954-B83E-4606-BF3F-73C4B14635FE}"/>
              </a:ext>
            </a:extLst>
          </p:cNvPr>
          <p:cNvSpPr/>
          <p:nvPr/>
        </p:nvSpPr>
        <p:spPr>
          <a:xfrm>
            <a:off x="7565114" y="2053114"/>
            <a:ext cx="6715957" cy="817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buFontTx/>
              <a:buChar char="-"/>
            </a:pP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Casos de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uso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: </a:t>
            </a:r>
          </a:p>
          <a:p>
            <a:pPr algn="l"/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Actores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cliente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y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administrador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con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acciones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como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: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registrarse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,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solicitar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reparación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,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consultar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estado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,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gestionar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pedidos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y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clientes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.</a:t>
            </a:r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4F592D66-03B6-4637-8E20-05A20AAC5737}"/>
              </a:ext>
            </a:extLst>
          </p:cNvPr>
          <p:cNvSpPr/>
          <p:nvPr/>
        </p:nvSpPr>
        <p:spPr>
          <a:xfrm>
            <a:off x="7565114" y="4538140"/>
            <a:ext cx="6715957" cy="82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buFontTx/>
              <a:buChar char="-"/>
            </a:pP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Diagrama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de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secuencia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:</a:t>
            </a:r>
          </a:p>
          <a:p>
            <a:pPr algn="l"/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Flujo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de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creación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de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pedido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: login,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seleccionar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servicio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,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validación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,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guardado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en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BBDD y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confirmación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al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cliente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.</a:t>
            </a:r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EA57535B-71A8-4291-B47E-345066AE4A80}"/>
              </a:ext>
            </a:extLst>
          </p:cNvPr>
          <p:cNvSpPr/>
          <p:nvPr/>
        </p:nvSpPr>
        <p:spPr>
          <a:xfrm>
            <a:off x="7565114" y="3301145"/>
            <a:ext cx="6715957" cy="870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buFontTx/>
              <a:buChar char="-"/>
            </a:pP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Diagrama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de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clases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: </a:t>
            </a:r>
          </a:p>
          <a:p>
            <a:pPr algn="l"/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Entidades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principales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: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cliente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,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pedido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,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servicio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,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logística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, personal,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almacén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, taller y material.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8229600"/>
          </a:xfrm>
          <a:prstGeom prst="rect">
            <a:avLst/>
          </a:prstGeom>
          <a:solidFill>
            <a:srgbClr val="3B3C3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9" y="1279684"/>
            <a:ext cx="4252674" cy="56702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68628" y="543758"/>
            <a:ext cx="6082546" cy="532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5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6. Desarrollo e implementación</a:t>
            </a:r>
            <a:endParaRPr lang="en-US" sz="33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168628" y="1135261"/>
            <a:ext cx="4382453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Metodología Scrum — 3 Sprints de 2 semanas</a:t>
            </a:r>
            <a:endParaRPr lang="en-US" sz="16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360438" y="1621512"/>
            <a:ext cx="22860" cy="3347323"/>
          </a:xfrm>
          <a:prstGeom prst="roundRect">
            <a:avLst>
              <a:gd name="adj" fmla="val 111919"/>
            </a:avLst>
          </a:prstGeom>
          <a:solidFill>
            <a:srgbClr val="545557"/>
          </a:solidFill>
          <a:ln/>
        </p:spPr>
      </p:sp>
      <p:sp>
        <p:nvSpPr>
          <p:cNvPr id="7" name="Shape 4"/>
          <p:cNvSpPr/>
          <p:nvPr/>
        </p:nvSpPr>
        <p:spPr>
          <a:xfrm>
            <a:off x="6529447" y="1801892"/>
            <a:ext cx="511612" cy="22860"/>
          </a:xfrm>
          <a:prstGeom prst="roundRect">
            <a:avLst>
              <a:gd name="adj" fmla="val 111919"/>
            </a:avLst>
          </a:prstGeom>
          <a:solidFill>
            <a:srgbClr val="545557"/>
          </a:solidFill>
          <a:ln/>
        </p:spPr>
      </p:sp>
      <p:sp>
        <p:nvSpPr>
          <p:cNvPr id="8" name="Shape 5"/>
          <p:cNvSpPr/>
          <p:nvPr/>
        </p:nvSpPr>
        <p:spPr>
          <a:xfrm>
            <a:off x="6168569" y="1621512"/>
            <a:ext cx="383738" cy="383738"/>
          </a:xfrm>
          <a:prstGeom prst="roundRect">
            <a:avLst>
              <a:gd name="adj" fmla="val 6667"/>
            </a:avLst>
          </a:prstGeom>
          <a:solidFill>
            <a:srgbClr val="3B3C3E"/>
          </a:solidFill>
          <a:ln/>
        </p:spPr>
      </p:sp>
      <p:sp>
        <p:nvSpPr>
          <p:cNvPr id="9" name="Text 6"/>
          <p:cNvSpPr/>
          <p:nvPr/>
        </p:nvSpPr>
        <p:spPr>
          <a:xfrm>
            <a:off x="6232505" y="1653421"/>
            <a:ext cx="255746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1</a:t>
            </a:r>
            <a:endParaRPr lang="en-US" sz="200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213282" y="1680091"/>
            <a:ext cx="2131933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Sprint 1</a:t>
            </a:r>
            <a:endParaRPr lang="en-US" sz="16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213282" y="2034421"/>
            <a:ext cx="6734889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529447" y="3015377"/>
            <a:ext cx="511612" cy="22860"/>
          </a:xfrm>
          <a:prstGeom prst="roundRect">
            <a:avLst>
              <a:gd name="adj" fmla="val 111919"/>
            </a:avLst>
          </a:prstGeom>
          <a:solidFill>
            <a:srgbClr val="545557"/>
          </a:solidFill>
          <a:ln/>
        </p:spPr>
      </p:sp>
      <p:sp>
        <p:nvSpPr>
          <p:cNvPr id="13" name="Shape 10"/>
          <p:cNvSpPr/>
          <p:nvPr/>
        </p:nvSpPr>
        <p:spPr>
          <a:xfrm>
            <a:off x="6168569" y="2834997"/>
            <a:ext cx="383738" cy="383738"/>
          </a:xfrm>
          <a:prstGeom prst="roundRect">
            <a:avLst>
              <a:gd name="adj" fmla="val 6667"/>
            </a:avLst>
          </a:prstGeom>
          <a:solidFill>
            <a:srgbClr val="3B3C3E"/>
          </a:solidFill>
          <a:ln/>
        </p:spPr>
      </p:sp>
      <p:sp>
        <p:nvSpPr>
          <p:cNvPr id="14" name="Text 11"/>
          <p:cNvSpPr/>
          <p:nvPr/>
        </p:nvSpPr>
        <p:spPr>
          <a:xfrm>
            <a:off x="6232505" y="2866906"/>
            <a:ext cx="255746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2</a:t>
            </a:r>
            <a:endParaRPr lang="en-US" sz="200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213282" y="2893576"/>
            <a:ext cx="2131933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Sprint 2</a:t>
            </a:r>
            <a:endParaRPr lang="en-US" sz="16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213282" y="3247906"/>
            <a:ext cx="6734889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529447" y="4228862"/>
            <a:ext cx="511612" cy="22860"/>
          </a:xfrm>
          <a:prstGeom prst="roundRect">
            <a:avLst>
              <a:gd name="adj" fmla="val 111919"/>
            </a:avLst>
          </a:prstGeom>
          <a:solidFill>
            <a:srgbClr val="545557"/>
          </a:solidFill>
          <a:ln/>
        </p:spPr>
      </p:sp>
      <p:sp>
        <p:nvSpPr>
          <p:cNvPr id="18" name="Shape 15"/>
          <p:cNvSpPr/>
          <p:nvPr/>
        </p:nvSpPr>
        <p:spPr>
          <a:xfrm>
            <a:off x="6168569" y="4048482"/>
            <a:ext cx="383738" cy="383738"/>
          </a:xfrm>
          <a:prstGeom prst="roundRect">
            <a:avLst>
              <a:gd name="adj" fmla="val 6667"/>
            </a:avLst>
          </a:prstGeom>
          <a:solidFill>
            <a:srgbClr val="3B3C3E"/>
          </a:solidFill>
          <a:ln/>
        </p:spPr>
      </p:sp>
      <p:sp>
        <p:nvSpPr>
          <p:cNvPr id="19" name="Text 16"/>
          <p:cNvSpPr/>
          <p:nvPr/>
        </p:nvSpPr>
        <p:spPr>
          <a:xfrm>
            <a:off x="6232505" y="4080391"/>
            <a:ext cx="255746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3</a:t>
            </a:r>
            <a:endParaRPr lang="en-US" sz="200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213282" y="4107061"/>
            <a:ext cx="2131933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Sprint 3</a:t>
            </a:r>
            <a:endParaRPr lang="en-US" sz="16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213282" y="4461391"/>
            <a:ext cx="6734889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168628" y="5133618"/>
            <a:ext cx="2495431" cy="1456492"/>
          </a:xfrm>
          <a:prstGeom prst="roundRect">
            <a:avLst>
              <a:gd name="adj" fmla="val 1757"/>
            </a:avLst>
          </a:prstGeom>
          <a:solidFill>
            <a:srgbClr val="3B3C3E"/>
          </a:solidFill>
          <a:ln/>
        </p:spPr>
      </p:sp>
      <p:sp>
        <p:nvSpPr>
          <p:cNvPr id="23" name="Text 20"/>
          <p:cNvSpPr/>
          <p:nvPr/>
        </p:nvSpPr>
        <p:spPr>
          <a:xfrm>
            <a:off x="6339126" y="5304115"/>
            <a:ext cx="2131933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Base de </a:t>
            </a:r>
            <a:r>
              <a:rPr lang="en-US" sz="16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datos</a:t>
            </a:r>
            <a:endParaRPr lang="en-US" sz="16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339126" y="5658445"/>
            <a:ext cx="2154436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810625" y="5133618"/>
            <a:ext cx="2495431" cy="1456492"/>
          </a:xfrm>
          <a:prstGeom prst="roundRect">
            <a:avLst>
              <a:gd name="adj" fmla="val 1757"/>
            </a:avLst>
          </a:prstGeom>
          <a:solidFill>
            <a:srgbClr val="3B3C3E"/>
          </a:solidFill>
          <a:ln/>
        </p:spPr>
      </p:sp>
      <p:sp>
        <p:nvSpPr>
          <p:cNvPr id="26" name="Text 23"/>
          <p:cNvSpPr/>
          <p:nvPr/>
        </p:nvSpPr>
        <p:spPr>
          <a:xfrm>
            <a:off x="8981123" y="5304115"/>
            <a:ext cx="2131933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Backend API</a:t>
            </a:r>
            <a:endParaRPr lang="en-US" sz="16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981123" y="5658445"/>
            <a:ext cx="2154436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11452622" y="5133618"/>
            <a:ext cx="2495550" cy="1456492"/>
          </a:xfrm>
          <a:prstGeom prst="roundRect">
            <a:avLst>
              <a:gd name="adj" fmla="val 1757"/>
            </a:avLst>
          </a:prstGeom>
          <a:solidFill>
            <a:srgbClr val="3B3C3E"/>
          </a:solidFill>
          <a:ln/>
        </p:spPr>
      </p:sp>
      <p:sp>
        <p:nvSpPr>
          <p:cNvPr id="29" name="Text 26"/>
          <p:cNvSpPr/>
          <p:nvPr/>
        </p:nvSpPr>
        <p:spPr>
          <a:xfrm>
            <a:off x="11623119" y="5304115"/>
            <a:ext cx="2131933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Panel interno</a:t>
            </a:r>
            <a:endParaRPr lang="en-US" sz="16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1623119" y="5658445"/>
            <a:ext cx="2154555" cy="761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168628" y="6736675"/>
            <a:ext cx="7779544" cy="949047"/>
          </a:xfrm>
          <a:prstGeom prst="roundRect">
            <a:avLst>
              <a:gd name="adj" fmla="val 2696"/>
            </a:avLst>
          </a:prstGeom>
          <a:solidFill>
            <a:srgbClr val="3B3C3E"/>
          </a:solidFill>
          <a:ln/>
        </p:spPr>
      </p:sp>
      <p:sp>
        <p:nvSpPr>
          <p:cNvPr id="32" name="Text 29"/>
          <p:cNvSpPr/>
          <p:nvPr/>
        </p:nvSpPr>
        <p:spPr>
          <a:xfrm>
            <a:off x="6339126" y="6907173"/>
            <a:ext cx="2131933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App cliente</a:t>
            </a:r>
            <a:endParaRPr lang="en-US" sz="16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6339126" y="7261503"/>
            <a:ext cx="7438549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00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2E7EA1CA-30AB-40DE-AF88-6E45DEA65462}"/>
              </a:ext>
            </a:extLst>
          </p:cNvPr>
          <p:cNvSpPr/>
          <p:nvPr/>
        </p:nvSpPr>
        <p:spPr>
          <a:xfrm>
            <a:off x="5896303" y="7790121"/>
            <a:ext cx="8727008" cy="439479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D26B0D0D-B81C-42A7-96E7-B4296A24E55B}"/>
              </a:ext>
            </a:extLst>
          </p:cNvPr>
          <p:cNvSpPr/>
          <p:nvPr/>
        </p:nvSpPr>
        <p:spPr>
          <a:xfrm>
            <a:off x="6366996" y="5561303"/>
            <a:ext cx="2250510" cy="749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buFontTx/>
              <a:buChar char="-"/>
            </a:pP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MySQL –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Núcleo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de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almacenamiento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.</a:t>
            </a:r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05FA07DB-804F-46DE-A998-ED4DDF5EC9E7}"/>
              </a:ext>
            </a:extLst>
          </p:cNvPr>
          <p:cNvSpPr/>
          <p:nvPr/>
        </p:nvSpPr>
        <p:spPr>
          <a:xfrm>
            <a:off x="8981609" y="5558138"/>
            <a:ext cx="2250510" cy="749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buFontTx/>
              <a:buChar char="-"/>
            </a:pP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Sprint boot –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lógica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de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negocio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y rest.</a:t>
            </a:r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89CA67BC-5B08-45A5-89B6-842063127ADE}"/>
              </a:ext>
            </a:extLst>
          </p:cNvPr>
          <p:cNvSpPr/>
          <p:nvPr/>
        </p:nvSpPr>
        <p:spPr>
          <a:xfrm>
            <a:off x="11617239" y="5547597"/>
            <a:ext cx="2250510" cy="749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buFontTx/>
              <a:buChar char="-"/>
            </a:pP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JavaFX –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gestión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pedidos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,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inventario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y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finanzas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.</a:t>
            </a:r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C30E37D5-7388-4A95-840B-D29C4008E078}"/>
              </a:ext>
            </a:extLst>
          </p:cNvPr>
          <p:cNvSpPr/>
          <p:nvPr/>
        </p:nvSpPr>
        <p:spPr>
          <a:xfrm>
            <a:off x="6326144" y="7140684"/>
            <a:ext cx="7163027" cy="478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buFontTx/>
              <a:buChar char="-"/>
            </a:pP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Android – solicitudes y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seguimiento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.</a:t>
            </a:r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0C0233F5-0552-436F-B4A4-936B938C1F4A}"/>
              </a:ext>
            </a:extLst>
          </p:cNvPr>
          <p:cNvSpPr/>
          <p:nvPr/>
        </p:nvSpPr>
        <p:spPr>
          <a:xfrm>
            <a:off x="7213282" y="1911101"/>
            <a:ext cx="5067301" cy="749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Cimentación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y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Datos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: </a:t>
            </a:r>
          </a:p>
          <a:p>
            <a:pPr marL="285750" indent="-285750" algn="l">
              <a:buFontTx/>
              <a:buChar char="-"/>
            </a:pP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Esquema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MySQL,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entorno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Maven/Git y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entidades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Java Persistence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Api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(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cliente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,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pedido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y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servicio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).</a:t>
            </a:r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C4E5250A-CD40-4E0F-A7C5-27A108705E55}"/>
              </a:ext>
            </a:extLst>
          </p:cNvPr>
          <p:cNvSpPr/>
          <p:nvPr/>
        </p:nvSpPr>
        <p:spPr>
          <a:xfrm>
            <a:off x="7236990" y="3123005"/>
            <a:ext cx="5067301" cy="749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Core y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seguridad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:</a:t>
            </a:r>
          </a:p>
          <a:p>
            <a:pPr marL="285750" indent="-285750" algn="l">
              <a:buFontTx/>
              <a:buChar char="-"/>
            </a:pP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Lógica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de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pedidos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, Tracking ID,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encriptación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Bcryp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y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catálogo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de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servicios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.</a:t>
            </a:r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E954AEDF-8358-4CB7-AC13-534A00C6DD0F}"/>
              </a:ext>
            </a:extLst>
          </p:cNvPr>
          <p:cNvSpPr/>
          <p:nvPr/>
        </p:nvSpPr>
        <p:spPr>
          <a:xfrm>
            <a:off x="7236990" y="4358519"/>
            <a:ext cx="5067301" cy="749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Interfaces:</a:t>
            </a:r>
          </a:p>
          <a:p>
            <a:pPr marL="285750" indent="-285750" algn="l">
              <a:buFontTx/>
              <a:buChar char="-"/>
            </a:pP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App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cliente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, panel JavaFX y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pruebas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end-to-end.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547807"/>
            <a:ext cx="4996934" cy="60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7. </a:t>
            </a:r>
            <a:r>
              <a:rPr lang="en-US" sz="3750" b="1" dirty="0" err="1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Diseño</a:t>
            </a:r>
            <a:r>
              <a:rPr lang="en-US" sz="375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BBDD, Backend, App y JavaFX</a:t>
            </a:r>
            <a:endParaRPr lang="en-US" sz="37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5052" y="1299089"/>
            <a:ext cx="2435423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Base de </a:t>
            </a:r>
            <a:r>
              <a:rPr lang="en-US" sz="1850" b="1" dirty="0" err="1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datos</a:t>
            </a:r>
            <a:endParaRPr lang="en-US" sz="18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27E0B5F-0B05-49C4-84E5-2FDD2C9F592B}"/>
              </a:ext>
            </a:extLst>
          </p:cNvPr>
          <p:cNvSpPr/>
          <p:nvPr/>
        </p:nvSpPr>
        <p:spPr>
          <a:xfrm>
            <a:off x="5896303" y="7790121"/>
            <a:ext cx="8727008" cy="439479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59740335-860E-4527-8BF8-3D874A74358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052" y="1749977"/>
            <a:ext cx="4228386" cy="1771527"/>
          </a:xfrm>
          <a:prstGeom prst="rect">
            <a:avLst/>
          </a:prstGeom>
        </p:spPr>
      </p:pic>
      <p:sp>
        <p:nvSpPr>
          <p:cNvPr id="36" name="Text 1">
            <a:extLst>
              <a:ext uri="{FF2B5EF4-FFF2-40B4-BE49-F238E27FC236}">
                <a16:creationId xmlns:a16="http://schemas.microsoft.com/office/drawing/2014/main" id="{AE807225-7067-41AA-A646-E7BFA404E987}"/>
              </a:ext>
            </a:extLst>
          </p:cNvPr>
          <p:cNvSpPr/>
          <p:nvPr/>
        </p:nvSpPr>
        <p:spPr>
          <a:xfrm>
            <a:off x="415052" y="3546157"/>
            <a:ext cx="2435423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Backend</a:t>
            </a:r>
            <a:endParaRPr lang="en-US" sz="18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C76FEC4C-F631-4961-94EE-3B7EBC0DBFA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085" y="3972392"/>
            <a:ext cx="4235353" cy="1762001"/>
          </a:xfrm>
          <a:prstGeom prst="rect">
            <a:avLst/>
          </a:prstGeom>
        </p:spPr>
      </p:pic>
      <p:sp>
        <p:nvSpPr>
          <p:cNvPr id="38" name="Text 1">
            <a:extLst>
              <a:ext uri="{FF2B5EF4-FFF2-40B4-BE49-F238E27FC236}">
                <a16:creationId xmlns:a16="http://schemas.microsoft.com/office/drawing/2014/main" id="{9899D039-47CD-432D-8F88-82A48EB19376}"/>
              </a:ext>
            </a:extLst>
          </p:cNvPr>
          <p:cNvSpPr/>
          <p:nvPr/>
        </p:nvSpPr>
        <p:spPr>
          <a:xfrm>
            <a:off x="439284" y="5759046"/>
            <a:ext cx="2435423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JavaFX</a:t>
            </a:r>
            <a:endParaRPr lang="en-US" sz="18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6E81B4D7-7CC2-422A-BF6B-E509346FD2C2}"/>
              </a:ext>
            </a:extLst>
          </p:cNvPr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24" b="9976"/>
          <a:stretch/>
        </p:blipFill>
        <p:spPr bwMode="auto">
          <a:xfrm>
            <a:off x="369063" y="6059441"/>
            <a:ext cx="1911447" cy="193284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245C16A2-1D6F-4B1A-91DF-DF9958A31299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750" y="6059441"/>
            <a:ext cx="3181617" cy="1929406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A5902A07-8954-4749-88DA-81235E05862B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903" y="6059441"/>
            <a:ext cx="3069772" cy="1932841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FACFF3FA-B062-459A-9E94-75A05EF50406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235" y="6059441"/>
            <a:ext cx="2904800" cy="193284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22D6388-CE68-478A-B9F8-EC9BAC411236}"/>
              </a:ext>
            </a:extLst>
          </p:cNvPr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265" y="1749977"/>
            <a:ext cx="1471612" cy="246067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39C404FE-914F-475C-B905-45D406C7119C}"/>
              </a:ext>
            </a:extLst>
          </p:cNvPr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0380" y="3139733"/>
            <a:ext cx="1387032" cy="2460671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E0770D7-64FB-4334-B7D5-65FD0155B377}"/>
              </a:ext>
            </a:extLst>
          </p:cNvPr>
          <p:cNvPicPr/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412" y="1747842"/>
            <a:ext cx="1387032" cy="246067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07F12FFF-1426-465A-B198-7FA1F62FC8C0}"/>
              </a:ext>
            </a:extLst>
          </p:cNvPr>
          <p:cNvPicPr/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4240" y="3168714"/>
            <a:ext cx="1387032" cy="2429250"/>
          </a:xfrm>
          <a:prstGeom prst="rect">
            <a:avLst/>
          </a:prstGeom>
        </p:spPr>
      </p:pic>
      <p:sp>
        <p:nvSpPr>
          <p:cNvPr id="19" name="Text 1">
            <a:extLst>
              <a:ext uri="{FF2B5EF4-FFF2-40B4-BE49-F238E27FC236}">
                <a16:creationId xmlns:a16="http://schemas.microsoft.com/office/drawing/2014/main" id="{4B1D7710-9F8B-4D5A-9E9E-7AAA351096DD}"/>
              </a:ext>
            </a:extLst>
          </p:cNvPr>
          <p:cNvSpPr/>
          <p:nvPr/>
        </p:nvSpPr>
        <p:spPr>
          <a:xfrm>
            <a:off x="5557201" y="1279826"/>
            <a:ext cx="2435423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App</a:t>
            </a:r>
            <a:endParaRPr lang="en-US" sz="18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5D0B8D46-22D8-4974-97F8-E601F852BC35}"/>
              </a:ext>
            </a:extLst>
          </p:cNvPr>
          <p:cNvPicPr/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5063" y="1747842"/>
            <a:ext cx="1443037" cy="2429250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FF7C8463-3643-4589-AC05-35C712100A3E}"/>
              </a:ext>
            </a:extLst>
          </p:cNvPr>
          <p:cNvPicPr/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8100" y="3168713"/>
            <a:ext cx="1426863" cy="24292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10"/>
          <p:cNvSpPr/>
          <p:nvPr/>
        </p:nvSpPr>
        <p:spPr>
          <a:xfrm>
            <a:off x="8309015" y="4764643"/>
            <a:ext cx="553521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E8FF07E-4144-499A-B543-CAF343A09B1C}"/>
              </a:ext>
            </a:extLst>
          </p:cNvPr>
          <p:cNvSpPr/>
          <p:nvPr/>
        </p:nvSpPr>
        <p:spPr>
          <a:xfrm>
            <a:off x="5896303" y="7790121"/>
            <a:ext cx="8727008" cy="439479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5DE8D859-62EC-49FD-A2DA-707A90583A84}"/>
              </a:ext>
            </a:extLst>
          </p:cNvPr>
          <p:cNvSpPr/>
          <p:nvPr/>
        </p:nvSpPr>
        <p:spPr>
          <a:xfrm>
            <a:off x="408028" y="415360"/>
            <a:ext cx="548827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8. </a:t>
            </a:r>
            <a:r>
              <a:rPr lang="en-US" sz="3900" b="1" dirty="0" err="1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Justificación</a:t>
            </a:r>
            <a:r>
              <a:rPr lang="en-US" sz="390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3900" b="1" dirty="0" err="1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Diseño</a:t>
            </a:r>
            <a:endParaRPr lang="en-US" sz="390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82C93C34-8480-4017-9F0B-4395527E6708}"/>
              </a:ext>
            </a:extLst>
          </p:cNvPr>
          <p:cNvSpPr/>
          <p:nvPr/>
        </p:nvSpPr>
        <p:spPr>
          <a:xfrm>
            <a:off x="408028" y="1107104"/>
            <a:ext cx="499264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Elección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de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separar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Frontend del Backend.</a:t>
            </a:r>
            <a:endParaRPr lang="en-US" sz="19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2BD4684A-9625-4256-A2C2-7306A2C1A943}"/>
              </a:ext>
            </a:extLst>
          </p:cNvPr>
          <p:cNvSpPr/>
          <p:nvPr/>
        </p:nvSpPr>
        <p:spPr>
          <a:xfrm>
            <a:off x="408028" y="1498322"/>
            <a:ext cx="664999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-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Api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rest,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el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Backend es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independiente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al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cliente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.</a:t>
            </a:r>
            <a:endParaRPr lang="en-US" sz="19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A245E5F6-656E-4A3D-9F7C-9103C54A6AB0}"/>
              </a:ext>
            </a:extLst>
          </p:cNvPr>
          <p:cNvSpPr/>
          <p:nvPr/>
        </p:nvSpPr>
        <p:spPr>
          <a:xfrm>
            <a:off x="408026" y="577239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Modelo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de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datos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:</a:t>
            </a:r>
            <a:endParaRPr lang="en-US" sz="19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2EDE71D3-A016-4661-8CBE-413C570BB0A9}"/>
              </a:ext>
            </a:extLst>
          </p:cNvPr>
          <p:cNvSpPr/>
          <p:nvPr/>
        </p:nvSpPr>
        <p:spPr>
          <a:xfrm>
            <a:off x="8858251" y="1056463"/>
            <a:ext cx="388620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Seguridad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y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validación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de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datos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:</a:t>
            </a:r>
            <a:endParaRPr lang="en-US" sz="19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24BC61BE-0136-49B9-A22E-35533FC4E928}"/>
              </a:ext>
            </a:extLst>
          </p:cNvPr>
          <p:cNvSpPr/>
          <p:nvPr/>
        </p:nvSpPr>
        <p:spPr>
          <a:xfrm>
            <a:off x="8858250" y="3497602"/>
            <a:ext cx="2843212" cy="276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Experiencia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del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usuario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:</a:t>
            </a:r>
            <a:endParaRPr lang="en-US" sz="19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DA71B7A1-08C6-4374-AFA2-71515B03B3EB}"/>
              </a:ext>
            </a:extLst>
          </p:cNvPr>
          <p:cNvSpPr/>
          <p:nvPr/>
        </p:nvSpPr>
        <p:spPr>
          <a:xfrm>
            <a:off x="408027" y="1808479"/>
            <a:ext cx="7292936" cy="718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400"/>
              </a:lnSpc>
            </a:pP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- Hoy es una app y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mañana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podría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ser una web sin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modificar</a:t>
            </a:r>
            <a:endParaRPr lang="en-US" sz="1950" b="1" dirty="0">
              <a:solidFill>
                <a:srgbClr val="C2C4B5"/>
              </a:solidFill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  <a:p>
            <a:pPr algn="l">
              <a:lnSpc>
                <a:spcPts val="2400"/>
              </a:lnSpc>
            </a:pP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código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.</a:t>
            </a:r>
            <a:endParaRPr lang="en-US" sz="19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A166A0A7-A654-43E0-BC2D-6DD9D864047D}"/>
              </a:ext>
            </a:extLst>
          </p:cNvPr>
          <p:cNvSpPr/>
          <p:nvPr/>
        </p:nvSpPr>
        <p:spPr>
          <a:xfrm>
            <a:off x="408026" y="2397644"/>
            <a:ext cx="7292936" cy="718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400"/>
              </a:lnSpc>
            </a:pP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- Si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el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taller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crece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con los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pedidos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, se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puede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escalar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sin</a:t>
            </a:r>
          </a:p>
          <a:p>
            <a:pPr algn="l">
              <a:lnSpc>
                <a:spcPts val="2400"/>
              </a:lnSpc>
            </a:pP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afectar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a los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clientes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.</a:t>
            </a:r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0E119A0B-1A8E-4473-8EB4-FA525951AFD2}"/>
              </a:ext>
            </a:extLst>
          </p:cNvPr>
          <p:cNvSpPr/>
          <p:nvPr/>
        </p:nvSpPr>
        <p:spPr>
          <a:xfrm>
            <a:off x="408026" y="3288760"/>
            <a:ext cx="7292936" cy="34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400"/>
              </a:lnSpc>
            </a:pP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Elección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de stack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tecnológíco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:</a:t>
            </a:r>
          </a:p>
        </p:txBody>
      </p:sp>
      <p:sp>
        <p:nvSpPr>
          <p:cNvPr id="40" name="Text 7">
            <a:extLst>
              <a:ext uri="{FF2B5EF4-FFF2-40B4-BE49-F238E27FC236}">
                <a16:creationId xmlns:a16="http://schemas.microsoft.com/office/drawing/2014/main" id="{B4F24581-FF14-4354-9F04-2905C11EE09A}"/>
              </a:ext>
            </a:extLst>
          </p:cNvPr>
          <p:cNvSpPr/>
          <p:nvPr/>
        </p:nvSpPr>
        <p:spPr>
          <a:xfrm>
            <a:off x="408028" y="3610783"/>
            <a:ext cx="7507248" cy="34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400"/>
              </a:lnSpc>
            </a:pP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- Spring boot por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su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robustez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y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persistencia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, sin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errores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de SQL.</a:t>
            </a:r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C1080EC0-880B-40AA-8A42-5AC507ED7BEC}"/>
              </a:ext>
            </a:extLst>
          </p:cNvPr>
          <p:cNvSpPr/>
          <p:nvPr/>
        </p:nvSpPr>
        <p:spPr>
          <a:xfrm>
            <a:off x="408026" y="3960908"/>
            <a:ext cx="7292936" cy="718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400"/>
              </a:lnSpc>
            </a:pP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- MySQL es una BBDD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relacional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estándar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, ideal para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datos</a:t>
            </a:r>
            <a:endParaRPr lang="en-US" sz="1950" b="1" dirty="0">
              <a:solidFill>
                <a:srgbClr val="C2C4B5"/>
              </a:solidFill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  <a:p>
            <a:pPr algn="l">
              <a:lnSpc>
                <a:spcPts val="2400"/>
              </a:lnSpc>
            </a:pP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estructurados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.</a:t>
            </a:r>
          </a:p>
        </p:txBody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4B884258-61BC-4F0B-A12F-77B06B6930C7}"/>
              </a:ext>
            </a:extLst>
          </p:cNvPr>
          <p:cNvSpPr/>
          <p:nvPr/>
        </p:nvSpPr>
        <p:spPr>
          <a:xfrm>
            <a:off x="408028" y="4589725"/>
            <a:ext cx="7292936" cy="718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400"/>
              </a:lnSpc>
            </a:pP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- Retrofit por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su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eficiencia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,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en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el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consumo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de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recursos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móviles</a:t>
            </a:r>
            <a:endParaRPr lang="en-US" sz="1950" b="1" dirty="0">
              <a:solidFill>
                <a:srgbClr val="C2C4B5"/>
              </a:solidFill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  <a:p>
            <a:pPr algn="l">
              <a:lnSpc>
                <a:spcPts val="2400"/>
              </a:lnSpc>
            </a:pP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y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su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facilidad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para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convertir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Json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en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objetos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Java.</a:t>
            </a:r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802609F0-3AAC-4DBA-9956-B20E9C131D46}"/>
              </a:ext>
            </a:extLst>
          </p:cNvPr>
          <p:cNvSpPr/>
          <p:nvPr/>
        </p:nvSpPr>
        <p:spPr>
          <a:xfrm>
            <a:off x="408026" y="6118129"/>
            <a:ext cx="7292936" cy="322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400"/>
              </a:lnSpc>
            </a:pP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-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Normalización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y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diseño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que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evita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duplicidad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de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datos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.</a:t>
            </a:r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52B6D72F-8426-4288-9E61-4491852A1C99}"/>
              </a:ext>
            </a:extLst>
          </p:cNvPr>
          <p:cNvSpPr/>
          <p:nvPr/>
        </p:nvSpPr>
        <p:spPr>
          <a:xfrm>
            <a:off x="408028" y="6461554"/>
            <a:ext cx="7292936" cy="718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400"/>
              </a:lnSpc>
            </a:pP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-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Estados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que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justifica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el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flujo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y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todo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controlado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desde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el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</a:p>
          <a:p>
            <a:pPr algn="l">
              <a:lnSpc>
                <a:spcPts val="2400"/>
              </a:lnSpc>
            </a:pP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Backend,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el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cliente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no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ve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información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desactualizada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.</a:t>
            </a:r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76947204-734F-4CAB-A099-BBBFBDF10B81}"/>
              </a:ext>
            </a:extLst>
          </p:cNvPr>
          <p:cNvSpPr/>
          <p:nvPr/>
        </p:nvSpPr>
        <p:spPr>
          <a:xfrm>
            <a:off x="8858251" y="1475336"/>
            <a:ext cx="574357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400"/>
              </a:lnSpc>
            </a:pP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-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Diseño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protege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integridad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del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negocio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.</a:t>
            </a:r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B985D2D3-B83F-4D58-BE5C-23D61CD34800}"/>
              </a:ext>
            </a:extLst>
          </p:cNvPr>
          <p:cNvSpPr/>
          <p:nvPr/>
        </p:nvSpPr>
        <p:spPr>
          <a:xfrm>
            <a:off x="8858250" y="1891835"/>
            <a:ext cx="5743573" cy="718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400"/>
              </a:lnSpc>
            </a:pP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-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Valida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los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datos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en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dos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capas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, una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en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la App y </a:t>
            </a:r>
          </a:p>
          <a:p>
            <a:pPr algn="l">
              <a:lnSpc>
                <a:spcPts val="2400"/>
              </a:lnSpc>
            </a:pP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otra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en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el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servidor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por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seguridad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.</a:t>
            </a:r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A2B8B937-97A5-4677-AC61-0EB3FD52E643}"/>
              </a:ext>
            </a:extLst>
          </p:cNvPr>
          <p:cNvSpPr/>
          <p:nvPr/>
        </p:nvSpPr>
        <p:spPr>
          <a:xfrm>
            <a:off x="8858251" y="2547831"/>
            <a:ext cx="5743572" cy="718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400"/>
              </a:lnSpc>
            </a:pP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- Evita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errores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de red o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manipulación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para</a:t>
            </a:r>
          </a:p>
          <a:p>
            <a:pPr algn="l">
              <a:lnSpc>
                <a:spcPts val="2400"/>
              </a:lnSpc>
            </a:pP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corromper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la BBDD.</a:t>
            </a:r>
          </a:p>
        </p:txBody>
      </p:sp>
      <p:sp>
        <p:nvSpPr>
          <p:cNvPr id="49" name="Text 7">
            <a:extLst>
              <a:ext uri="{FF2B5EF4-FFF2-40B4-BE49-F238E27FC236}">
                <a16:creationId xmlns:a16="http://schemas.microsoft.com/office/drawing/2014/main" id="{8D4D4A67-4818-4D9E-BCA9-9754EE8329B3}"/>
              </a:ext>
            </a:extLst>
          </p:cNvPr>
          <p:cNvSpPr/>
          <p:nvPr/>
        </p:nvSpPr>
        <p:spPr>
          <a:xfrm>
            <a:off x="8850806" y="3843440"/>
            <a:ext cx="574357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400"/>
              </a:lnSpc>
            </a:pP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-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Interfaz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sencilla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.</a:t>
            </a:r>
          </a:p>
        </p:txBody>
      </p:sp>
      <p:sp>
        <p:nvSpPr>
          <p:cNvPr id="50" name="Text 7">
            <a:extLst>
              <a:ext uri="{FF2B5EF4-FFF2-40B4-BE49-F238E27FC236}">
                <a16:creationId xmlns:a16="http://schemas.microsoft.com/office/drawing/2014/main" id="{E5C46223-7727-47EB-B38E-638BBB70AA71}"/>
              </a:ext>
            </a:extLst>
          </p:cNvPr>
          <p:cNvSpPr/>
          <p:nvPr/>
        </p:nvSpPr>
        <p:spPr>
          <a:xfrm>
            <a:off x="8858251" y="4213855"/>
            <a:ext cx="574357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400"/>
              </a:lnSpc>
            </a:pP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- Feedback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en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tiempo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real,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el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cliente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sabe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en</a:t>
            </a:r>
            <a:endParaRPr lang="en-US" sz="1950" b="1" dirty="0">
              <a:solidFill>
                <a:srgbClr val="C2C4B5"/>
              </a:solidFill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  <a:p>
            <a:pPr algn="l">
              <a:lnSpc>
                <a:spcPts val="2400"/>
              </a:lnSpc>
            </a:pP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todo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momento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el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estado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de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su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pedido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.</a:t>
            </a:r>
          </a:p>
        </p:txBody>
      </p:sp>
      <p:sp>
        <p:nvSpPr>
          <p:cNvPr id="51" name="Text 7">
            <a:extLst>
              <a:ext uri="{FF2B5EF4-FFF2-40B4-BE49-F238E27FC236}">
                <a16:creationId xmlns:a16="http://schemas.microsoft.com/office/drawing/2014/main" id="{C850168B-DD26-410C-9CB7-507CC18CA091}"/>
              </a:ext>
            </a:extLst>
          </p:cNvPr>
          <p:cNvSpPr/>
          <p:nvPr/>
        </p:nvSpPr>
        <p:spPr>
          <a:xfrm>
            <a:off x="8850806" y="4829234"/>
            <a:ext cx="574357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400"/>
              </a:lnSpc>
            </a:pP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-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Diseño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no solo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cumple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su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función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,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está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</a:p>
          <a:p>
            <a:pPr algn="l">
              <a:lnSpc>
                <a:spcPts val="2400"/>
              </a:lnSpc>
            </a:pP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pensada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como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un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ecosistema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profesional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.</a:t>
            </a:r>
          </a:p>
        </p:txBody>
      </p:sp>
      <p:sp>
        <p:nvSpPr>
          <p:cNvPr id="52" name="Text 7">
            <a:extLst>
              <a:ext uri="{FF2B5EF4-FFF2-40B4-BE49-F238E27FC236}">
                <a16:creationId xmlns:a16="http://schemas.microsoft.com/office/drawing/2014/main" id="{39964858-1904-445C-B062-1E74640E045D}"/>
              </a:ext>
            </a:extLst>
          </p:cNvPr>
          <p:cNvSpPr/>
          <p:nvPr/>
        </p:nvSpPr>
        <p:spPr>
          <a:xfrm>
            <a:off x="8829675" y="5501186"/>
            <a:ext cx="574357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400"/>
              </a:lnSpc>
            </a:pP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-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Arquitectura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desacoplada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,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garantiza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un</a:t>
            </a:r>
          </a:p>
          <a:p>
            <a:pPr algn="l">
              <a:lnSpc>
                <a:spcPts val="2400"/>
              </a:lnSpc>
            </a:pP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sistema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robusto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, ante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fallos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y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fácil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de </a:t>
            </a:r>
          </a:p>
          <a:p>
            <a:pPr algn="l">
              <a:lnSpc>
                <a:spcPts val="2400"/>
              </a:lnSpc>
            </a:pP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mantener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a </a:t>
            </a:r>
            <a:r>
              <a:rPr lang="en-US" sz="1950" b="1" dirty="0" err="1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futuro</a:t>
            </a: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7" grpId="0" animBg="1"/>
      <p:bldP spid="38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8229600"/>
          </a:xfrm>
          <a:prstGeom prst="rect">
            <a:avLst/>
          </a:prstGeom>
          <a:solidFill>
            <a:srgbClr val="3B3C3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023" y="1388656"/>
            <a:ext cx="4242673" cy="5657017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1B313E80-0A4E-470B-8971-4D5A64EE3830}"/>
              </a:ext>
            </a:extLst>
          </p:cNvPr>
          <p:cNvSpPr/>
          <p:nvPr/>
        </p:nvSpPr>
        <p:spPr>
          <a:xfrm>
            <a:off x="5896303" y="7790121"/>
            <a:ext cx="8727008" cy="439479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766AA155-4972-4B79-AA3A-CFD01AFA986A}"/>
              </a:ext>
            </a:extLst>
          </p:cNvPr>
          <p:cNvSpPr/>
          <p:nvPr/>
        </p:nvSpPr>
        <p:spPr>
          <a:xfrm>
            <a:off x="6323054" y="942906"/>
            <a:ext cx="757404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9. Conclusiones y mejoras futuras</a:t>
            </a:r>
            <a:endParaRPr lang="en-US" sz="390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7F93978B-374F-460D-910F-6A2CC7315508}"/>
              </a:ext>
            </a:extLst>
          </p:cNvPr>
          <p:cNvSpPr/>
          <p:nvPr/>
        </p:nvSpPr>
        <p:spPr>
          <a:xfrm>
            <a:off x="6388777" y="271879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Valoración personal</a:t>
            </a:r>
            <a:endParaRPr lang="en-US" sz="19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76C444DA-85EA-4AAD-BF0B-FFD9FDAF3C42}"/>
              </a:ext>
            </a:extLst>
          </p:cNvPr>
          <p:cNvSpPr/>
          <p:nvPr/>
        </p:nvSpPr>
        <p:spPr>
          <a:xfrm>
            <a:off x="6323054" y="3138488"/>
            <a:ext cx="3205640" cy="45719"/>
          </a:xfrm>
          <a:prstGeom prst="rect">
            <a:avLst/>
          </a:prstGeom>
          <a:solidFill>
            <a:srgbClr val="C2C4B5">
              <a:alpha val="50000"/>
            </a:srgbClr>
          </a:solidFill>
          <a:ln/>
        </p:spPr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1789483D-CABF-4106-A4A4-745DDF697C23}"/>
              </a:ext>
            </a:extLst>
          </p:cNvPr>
          <p:cNvSpPr/>
          <p:nvPr/>
        </p:nvSpPr>
        <p:spPr>
          <a:xfrm>
            <a:off x="6445927" y="4831811"/>
            <a:ext cx="308276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Dificultades y aprendizajes</a:t>
            </a:r>
            <a:endParaRPr lang="en-US" sz="19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78442B5F-0855-4B3F-A4B4-D257B5D7B89A}"/>
              </a:ext>
            </a:extLst>
          </p:cNvPr>
          <p:cNvSpPr/>
          <p:nvPr/>
        </p:nvSpPr>
        <p:spPr>
          <a:xfrm>
            <a:off x="10772776" y="270005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Propuestas de </a:t>
            </a:r>
            <a:r>
              <a:rPr lang="en-US" sz="1950" b="1" dirty="0" err="1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mejora</a:t>
            </a:r>
            <a:r>
              <a:rPr lang="en-US" sz="195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:</a:t>
            </a:r>
            <a:endParaRPr lang="en-US" sz="19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6CF0C657-B810-4DD9-9C47-83F0498FF6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72776" y="2991421"/>
            <a:ext cx="496133" cy="496133"/>
          </a:xfrm>
          <a:prstGeom prst="rect">
            <a:avLst/>
          </a:prstGeom>
        </p:spPr>
      </p:pic>
      <p:sp>
        <p:nvSpPr>
          <p:cNvPr id="31" name="Text 7">
            <a:extLst>
              <a:ext uri="{FF2B5EF4-FFF2-40B4-BE49-F238E27FC236}">
                <a16:creationId xmlns:a16="http://schemas.microsoft.com/office/drawing/2014/main" id="{CB2DB46D-0AE5-44F3-9BD7-420B3D7A915F}"/>
              </a:ext>
            </a:extLst>
          </p:cNvPr>
          <p:cNvSpPr/>
          <p:nvPr/>
        </p:nvSpPr>
        <p:spPr>
          <a:xfrm>
            <a:off x="11371067" y="307144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Pasarela de pago</a:t>
            </a:r>
            <a:endParaRPr lang="en-US" sz="19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pic>
        <p:nvPicPr>
          <p:cNvPr id="32" name="Image 1" descr="preencoded.png">
            <a:extLst>
              <a:ext uri="{FF2B5EF4-FFF2-40B4-BE49-F238E27FC236}">
                <a16:creationId xmlns:a16="http://schemas.microsoft.com/office/drawing/2014/main" id="{499B07ED-657F-420C-A82A-D02DFC324D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72776" y="3943417"/>
            <a:ext cx="496133" cy="496133"/>
          </a:xfrm>
          <a:prstGeom prst="rect">
            <a:avLst/>
          </a:prstGeom>
        </p:spPr>
      </p:pic>
      <p:sp>
        <p:nvSpPr>
          <p:cNvPr id="33" name="Text 9">
            <a:extLst>
              <a:ext uri="{FF2B5EF4-FFF2-40B4-BE49-F238E27FC236}">
                <a16:creationId xmlns:a16="http://schemas.microsoft.com/office/drawing/2014/main" id="{39A3C09C-E12C-4C0C-A442-D123A3EE21AD}"/>
              </a:ext>
            </a:extLst>
          </p:cNvPr>
          <p:cNvSpPr/>
          <p:nvPr/>
        </p:nvSpPr>
        <p:spPr>
          <a:xfrm>
            <a:off x="11381902" y="400840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Notificaciones Push</a:t>
            </a:r>
            <a:endParaRPr lang="en-US" sz="19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pic>
        <p:nvPicPr>
          <p:cNvPr id="34" name="Image 2" descr="preencoded.png">
            <a:extLst>
              <a:ext uri="{FF2B5EF4-FFF2-40B4-BE49-F238E27FC236}">
                <a16:creationId xmlns:a16="http://schemas.microsoft.com/office/drawing/2014/main" id="{8E151F87-D755-492B-8355-455956E9F8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2776" y="5053154"/>
            <a:ext cx="496133" cy="496133"/>
          </a:xfrm>
          <a:prstGeom prst="rect">
            <a:avLst/>
          </a:prstGeom>
        </p:spPr>
      </p:pic>
      <p:sp>
        <p:nvSpPr>
          <p:cNvPr id="35" name="Text 11">
            <a:extLst>
              <a:ext uri="{FF2B5EF4-FFF2-40B4-BE49-F238E27FC236}">
                <a16:creationId xmlns:a16="http://schemas.microsoft.com/office/drawing/2014/main" id="{F0D211C2-9275-4DAD-AD8D-6937C0F6344C}"/>
              </a:ext>
            </a:extLst>
          </p:cNvPr>
          <p:cNvSpPr/>
          <p:nvPr/>
        </p:nvSpPr>
        <p:spPr>
          <a:xfrm>
            <a:off x="11371068" y="517700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IA de diagnóstico</a:t>
            </a:r>
            <a:endParaRPr lang="en-US" sz="19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05AA3C5-112D-408F-89BB-656332B34278}"/>
              </a:ext>
            </a:extLst>
          </p:cNvPr>
          <p:cNvSpPr/>
          <p:nvPr/>
        </p:nvSpPr>
        <p:spPr>
          <a:xfrm>
            <a:off x="6445927" y="5270946"/>
            <a:ext cx="3205640" cy="45719"/>
          </a:xfrm>
          <a:prstGeom prst="rect">
            <a:avLst/>
          </a:prstGeom>
          <a:solidFill>
            <a:srgbClr val="C2C4B5">
              <a:alpha val="50000"/>
            </a:srgbClr>
          </a:solidFill>
          <a:ln/>
        </p:spPr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7A594FE3-BB17-4BD8-BE89-0449ABB508FF}"/>
              </a:ext>
            </a:extLst>
          </p:cNvPr>
          <p:cNvSpPr/>
          <p:nvPr/>
        </p:nvSpPr>
        <p:spPr>
          <a:xfrm>
            <a:off x="6445928" y="6946415"/>
            <a:ext cx="308276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 err="1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Prueba</a:t>
            </a:r>
            <a:r>
              <a:rPr lang="en-US" sz="195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de </a:t>
            </a:r>
            <a:r>
              <a:rPr lang="en-US" sz="1950" b="1" dirty="0" err="1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funcionamiento</a:t>
            </a:r>
            <a:endParaRPr lang="en-US" sz="19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38" name="Shape 3">
            <a:extLst>
              <a:ext uri="{FF2B5EF4-FFF2-40B4-BE49-F238E27FC236}">
                <a16:creationId xmlns:a16="http://schemas.microsoft.com/office/drawing/2014/main" id="{34DA7E05-8ADB-45E6-898D-CBB5D5CAD1FA}"/>
              </a:ext>
            </a:extLst>
          </p:cNvPr>
          <p:cNvSpPr/>
          <p:nvPr/>
        </p:nvSpPr>
        <p:spPr>
          <a:xfrm>
            <a:off x="6388777" y="7285827"/>
            <a:ext cx="3205640" cy="45719"/>
          </a:xfrm>
          <a:prstGeom prst="rect">
            <a:avLst/>
          </a:prstGeom>
          <a:solidFill>
            <a:srgbClr val="C2C4B5">
              <a:alpha val="50000"/>
            </a:srgbClr>
          </a:solidFill>
          <a:ln/>
        </p:spPr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90CD536D-C24A-49F4-A370-54B16DB09DC3}"/>
              </a:ext>
            </a:extLst>
          </p:cNvPr>
          <p:cNvSpPr/>
          <p:nvPr/>
        </p:nvSpPr>
        <p:spPr>
          <a:xfrm>
            <a:off x="10769206" y="6942102"/>
            <a:ext cx="308276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 err="1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Turno</a:t>
            </a:r>
            <a:r>
              <a:rPr lang="en-US" sz="1950" b="1" dirty="0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de </a:t>
            </a:r>
            <a:r>
              <a:rPr lang="en-US" sz="1950" b="1" dirty="0" err="1">
                <a:solidFill>
                  <a:srgbClr val="E1E5C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preguntas</a:t>
            </a:r>
            <a:endParaRPr lang="en-US" sz="1950" dirty="0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D2357EA3-A8F0-4988-B904-2DD218EE09F7}"/>
              </a:ext>
            </a:extLst>
          </p:cNvPr>
          <p:cNvSpPr/>
          <p:nvPr/>
        </p:nvSpPr>
        <p:spPr>
          <a:xfrm>
            <a:off x="10772776" y="7236848"/>
            <a:ext cx="2480905" cy="45719"/>
          </a:xfrm>
          <a:prstGeom prst="rect">
            <a:avLst/>
          </a:prstGeom>
          <a:solidFill>
            <a:srgbClr val="C2C4B5">
              <a:alpha val="50000"/>
            </a:srgbClr>
          </a:solidFill>
          <a:ln/>
        </p:spPr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D00FDBB7-7B95-4B4A-99DD-F7A395F6DCAA}"/>
              </a:ext>
            </a:extLst>
          </p:cNvPr>
          <p:cNvSpPr/>
          <p:nvPr/>
        </p:nvSpPr>
        <p:spPr>
          <a:xfrm>
            <a:off x="6384490" y="3333331"/>
            <a:ext cx="3205640" cy="1391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Se ha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integrado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con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éxito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, los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conocimientos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del CF, con una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solución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multiplataforma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, que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soluciona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una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necesidad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real.</a:t>
            </a: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293D6945-72F3-49A3-9A05-F9547CD6E176}"/>
              </a:ext>
            </a:extLst>
          </p:cNvPr>
          <p:cNvSpPr/>
          <p:nvPr/>
        </p:nvSpPr>
        <p:spPr>
          <a:xfrm>
            <a:off x="6388776" y="5434826"/>
            <a:ext cx="3139917" cy="109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El mayor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reto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fue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la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comunicación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,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en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tiempo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real entre la app y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el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servidor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apache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, y la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gestión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de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dependencias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en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sprint boot.</a:t>
            </a:r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FD6E4302-13E7-4BD3-9BD4-1921772EA05D}"/>
              </a:ext>
            </a:extLst>
          </p:cNvPr>
          <p:cNvSpPr/>
          <p:nvPr/>
        </p:nvSpPr>
        <p:spPr>
          <a:xfrm>
            <a:off x="11381903" y="3372068"/>
            <a:ext cx="2900694" cy="374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Integrar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Paypal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,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Bizum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o Google pay.</a:t>
            </a:r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833FF08A-9A5E-4799-82B1-7EAF0FF0A17F}"/>
              </a:ext>
            </a:extLst>
          </p:cNvPr>
          <p:cNvSpPr/>
          <p:nvPr/>
        </p:nvSpPr>
        <p:spPr>
          <a:xfrm>
            <a:off x="11387737" y="4312218"/>
            <a:ext cx="2894860" cy="760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Avisos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automáticos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al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cliente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,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cuando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cambie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el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estado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de taller a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entregado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.</a:t>
            </a:r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E9FFEF24-00CB-4736-804B-D34332901EE1}"/>
              </a:ext>
            </a:extLst>
          </p:cNvPr>
          <p:cNvSpPr/>
          <p:nvPr/>
        </p:nvSpPr>
        <p:spPr>
          <a:xfrm>
            <a:off x="11374636" y="5510202"/>
            <a:ext cx="2894860" cy="978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Módulo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de vision artificial para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subir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foto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del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daño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y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recibir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presupuesto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estimado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 de forma </a:t>
            </a:r>
            <a:r>
              <a:rPr lang="en-US" sz="1550" dirty="0" err="1">
                <a:solidFill>
                  <a:schemeClr val="bg1"/>
                </a:solidFill>
                <a:latin typeface="Bitter" pitchFamily="34" charset="0"/>
              </a:rPr>
              <a:t>automática</a:t>
            </a:r>
            <a:r>
              <a:rPr lang="en-US" sz="1550" dirty="0">
                <a:solidFill>
                  <a:schemeClr val="bg1"/>
                </a:solidFill>
                <a:latin typeface="Bitter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9" grpId="0" animBg="1"/>
      <p:bldP spid="21" grpId="0" animBg="1"/>
      <p:bldP spid="22" grpId="0" animBg="1"/>
      <p:bldP spid="23" grpId="0" animBg="1"/>
      <p:bldP spid="41" grpId="0" animBg="1"/>
      <p:bldP spid="4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1210</TotalTime>
  <Words>955</Words>
  <Application>Microsoft Office PowerPoint</Application>
  <PresentationFormat>Personalizado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Bitter</vt:lpstr>
      <vt:lpstr>Arial</vt:lpstr>
      <vt:lpstr>Nirmala Text Semilight</vt:lpstr>
      <vt:lpstr>Calibri</vt:lpstr>
      <vt:lpstr>Nirmala Text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Francisco Javier Cueto Burgos</dc:creator>
  <cp:lastModifiedBy>Francisco Javier Cueto Burgos</cp:lastModifiedBy>
  <cp:revision>63</cp:revision>
  <dcterms:created xsi:type="dcterms:W3CDTF">2026-04-29T08:20:49Z</dcterms:created>
  <dcterms:modified xsi:type="dcterms:W3CDTF">2026-05-18T16:20:13Z</dcterms:modified>
</cp:coreProperties>
</file>